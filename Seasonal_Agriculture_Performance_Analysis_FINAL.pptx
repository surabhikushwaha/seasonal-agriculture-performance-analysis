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hyperlink" Target="https://github.com/Surabhikushwaha/Seasonal-Agriculture-Performance-Analysi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8" name="TextBox 37"/>
          <p:cNvSpPr txBox="1"/>
          <p:nvPr/>
        </p:nvSpPr>
        <p:spPr>
          <a:xfrm>
            <a:off x="731520" y="914400"/>
            <a:ext cx="10698480" cy="1325880"/>
          </a:xfrm>
          <a:prstGeom prst="rect">
            <a:avLst/>
          </a:prstGeom>
          <a:noFill/>
        </p:spPr>
        <p:txBody>
          <a:bodyPr wrap="square" anchor="t">
            <a:spAutoFit/>
          </a:bodyPr>
          <a:lstStyle/>
          <a:p>
            <a:pPr algn="ctr"/>
            <a:r>
              <a:rPr sz="3400" b="1"/>
              <a:t>Seasonal Agriculture
Performance Analysis</a:t>
            </a:r>
          </a:p>
        </p:txBody>
      </p:sp>
      <p:sp>
        <p:nvSpPr>
          <p:cNvPr id="39" name="TextBox 38"/>
          <p:cNvSpPr txBox="1"/>
          <p:nvPr/>
        </p:nvSpPr>
        <p:spPr>
          <a:xfrm>
            <a:off x="1828800" y="2423160"/>
            <a:ext cx="8869680" cy="411480"/>
          </a:xfrm>
          <a:prstGeom prst="rect">
            <a:avLst/>
          </a:prstGeom>
          <a:noFill/>
        </p:spPr>
        <p:txBody>
          <a:bodyPr wrap="square" anchor="t">
            <a:spAutoFit/>
          </a:bodyPr>
          <a:lstStyle/>
          <a:p>
            <a:pPr algn="ctr"/>
            <a:r>
              <a:rPr sz="2000" b="1"/>
              <a:t>MAJOR PROJECT</a:t>
            </a:r>
          </a:p>
        </p:txBody>
      </p:sp>
      <p:sp>
        <p:nvSpPr>
          <p:cNvPr id="40" name="TextBox 39"/>
          <p:cNvSpPr txBox="1"/>
          <p:nvPr/>
        </p:nvSpPr>
        <p:spPr>
          <a:xfrm>
            <a:off x="1828800" y="2880360"/>
            <a:ext cx="8869680" cy="411480"/>
          </a:xfrm>
          <a:prstGeom prst="rect">
            <a:avLst/>
          </a:prstGeom>
          <a:noFill/>
        </p:spPr>
        <p:txBody>
          <a:bodyPr wrap="square" anchor="t">
            <a:spAutoFit/>
          </a:bodyPr>
          <a:lstStyle/>
          <a:p>
            <a:pPr algn="ctr"/>
            <a:r>
              <a:rPr sz="1800" b="0"/>
              <a:t>VOIS AICTE Batch 1 | 2026–2027</a:t>
            </a:r>
          </a:p>
        </p:txBody>
      </p:sp>
      <p:sp>
        <p:nvSpPr>
          <p:cNvPr id="41" name="TextBox 40"/>
          <p:cNvSpPr txBox="1"/>
          <p:nvPr/>
        </p:nvSpPr>
        <p:spPr>
          <a:xfrm>
            <a:off x="1645920" y="3474720"/>
            <a:ext cx="8961120" cy="1417320"/>
          </a:xfrm>
          <a:prstGeom prst="rect">
            <a:avLst/>
          </a:prstGeom>
          <a:noFill/>
        </p:spPr>
        <p:txBody>
          <a:bodyPr wrap="square" anchor="t">
            <a:spAutoFit/>
          </a:bodyPr>
          <a:lstStyle/>
          <a:p>
            <a:pPr algn="ctr"/>
            <a:r>
              <a:rPr sz="1800" b="0"/>
              <a:t>Student Name: Surabhi Kushwaha
College: Gautam Buddha University
AICTE STU ID: STU69a84546249181772635462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685800" y="411480"/>
            <a:ext cx="10789920" cy="594360"/>
          </a:xfrm>
          <a:prstGeom prst="rect">
            <a:avLst/>
          </a:prstGeom>
          <a:noFill/>
        </p:spPr>
        <p:txBody>
          <a:bodyPr wrap="square" anchor="t">
            <a:spAutoFit/>
          </a:bodyPr>
          <a:lstStyle/>
          <a:p>
            <a:pPr algn="l"/>
            <a:r>
              <a:rPr sz="2800" b="1"/>
              <a:t>PROBLEM STATEMENT</a:t>
            </a:r>
          </a:p>
        </p:txBody>
      </p:sp>
      <p:sp>
        <p:nvSpPr>
          <p:cNvPr id="18" name="TextBox 17"/>
          <p:cNvSpPr txBox="1"/>
          <p:nvPr/>
        </p:nvSpPr>
        <p:spPr>
          <a:xfrm>
            <a:off x="914400" y="1325880"/>
            <a:ext cx="10241280" cy="4389120"/>
          </a:xfrm>
          <a:prstGeom prst="rect">
            <a:avLst/>
          </a:prstGeom>
          <a:noFill/>
        </p:spPr>
        <p:txBody>
          <a:bodyPr wrap="square" anchor="t">
            <a:spAutoFit/>
          </a:bodyPr>
          <a:lstStyle/>
          <a:p>
            <a:pPr algn="l"/>
            <a:r>
              <a:rPr sz="2000" b="0"/>
              <a:t>Agricultural performance is influenced by seasonal environmental conditions, farming practices, resource availability and economic factors. As a result, crop productivity, resource use and financial outcomes can differ across seasons.
The problem is to analyze the available agricultural data and identify meaningful seasonal patterns, differences, relationships and variations in agricultural performance.</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85800" y="411480"/>
            <a:ext cx="10789920" cy="594360"/>
          </a:xfrm>
          <a:prstGeom prst="rect">
            <a:avLst/>
          </a:prstGeom>
          <a:noFill/>
        </p:spPr>
        <p:txBody>
          <a:bodyPr wrap="square" anchor="t">
            <a:spAutoFit/>
          </a:bodyPr>
          <a:lstStyle/>
          <a:p>
            <a:pPr algn="l"/>
            <a:r>
              <a:rPr sz="2800" b="1"/>
              <a:t>Project Description</a:t>
            </a:r>
          </a:p>
        </p:txBody>
      </p:sp>
      <p:sp>
        <p:nvSpPr>
          <p:cNvPr id="11" name="TextBox 10"/>
          <p:cNvSpPr txBox="1"/>
          <p:nvPr/>
        </p:nvSpPr>
        <p:spPr>
          <a:xfrm>
            <a:off x="914400" y="1234440"/>
            <a:ext cx="10241280" cy="1371600"/>
          </a:xfrm>
          <a:prstGeom prst="rect">
            <a:avLst/>
          </a:prstGeom>
          <a:noFill/>
        </p:spPr>
        <p:txBody>
          <a:bodyPr wrap="square" anchor="t">
            <a:spAutoFit/>
          </a:bodyPr>
          <a:lstStyle/>
          <a:p>
            <a:pPr algn="l"/>
            <a:r>
              <a:rPr sz="2000" b="0"/>
              <a:t>The dataset contains 4,000 agricultural records covering different seasons, crops, geographical areas and farming conditions.
Project workflow:</a:t>
            </a:r>
          </a:p>
        </p:txBody>
      </p:sp>
      <p:sp>
        <p:nvSpPr>
          <p:cNvPr id="12" name="TextBox 11"/>
          <p:cNvSpPr txBox="1"/>
          <p:nvPr/>
        </p:nvSpPr>
        <p:spPr>
          <a:xfrm>
            <a:off x="1143000" y="2560320"/>
            <a:ext cx="9692640" cy="3291840"/>
          </a:xfrm>
          <a:prstGeom prst="rect">
            <a:avLst/>
          </a:prstGeom>
          <a:noFill/>
        </p:spPr>
        <p:txBody>
          <a:bodyPr wrap="square">
            <a:spAutoFit/>
          </a:bodyPr>
          <a:lstStyle/>
          <a:p>
            <a:pPr>
              <a:spcAft>
                <a:spcPts val="800"/>
              </a:spcAft>
              <a:defRPr sz="1800"/>
            </a:pPr>
            <a:r>
              <a:t>Data exploration and quality checking</a:t>
            </a:r>
          </a:p>
          <a:p>
            <a:pPr>
              <a:spcAft>
                <a:spcPts val="800"/>
              </a:spcAft>
              <a:defRPr sz="1800"/>
            </a:pPr>
            <a:r>
              <a:t>Data cleaning and preparation</a:t>
            </a:r>
          </a:p>
          <a:p>
            <a:pPr>
              <a:spcAft>
                <a:spcPts val="800"/>
              </a:spcAft>
              <a:defRPr sz="1800"/>
            </a:pPr>
            <a:r>
              <a:t>Season-wise agricultural performance comparison</a:t>
            </a:r>
          </a:p>
          <a:p>
            <a:pPr>
              <a:spcAft>
                <a:spcPts val="800"/>
              </a:spcAft>
              <a:defRPr sz="1800"/>
            </a:pPr>
            <a:r>
              <a:t>Environmental and resource-use analysis</a:t>
            </a:r>
          </a:p>
          <a:p>
            <a:pPr>
              <a:spcAft>
                <a:spcPts val="800"/>
              </a:spcAft>
              <a:defRPr sz="1800"/>
            </a:pPr>
            <a:r>
              <a:t>Economic performance analysis</a:t>
            </a:r>
          </a:p>
          <a:p>
            <a:pPr>
              <a:spcAft>
                <a:spcPts val="800"/>
              </a:spcAft>
              <a:defRPr sz="1800"/>
            </a:pPr>
            <a:r>
              <a:t>Visualization, interpretation and recommendations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685800" y="411480"/>
            <a:ext cx="10789920" cy="594360"/>
          </a:xfrm>
          <a:prstGeom prst="rect">
            <a:avLst/>
          </a:prstGeom>
          <a:noFill/>
        </p:spPr>
        <p:txBody>
          <a:bodyPr wrap="square" anchor="t">
            <a:spAutoFit/>
          </a:bodyPr>
          <a:lstStyle/>
          <a:p>
            <a:pPr algn="l"/>
            <a:r>
              <a:rPr sz="2800" b="1"/>
              <a:t>WHO ARE THE END USERS?</a:t>
            </a:r>
          </a:p>
        </p:txBody>
      </p:sp>
      <p:sp>
        <p:nvSpPr>
          <p:cNvPr id="18" name="TextBox 17"/>
          <p:cNvSpPr txBox="1"/>
          <p:nvPr/>
        </p:nvSpPr>
        <p:spPr>
          <a:xfrm>
            <a:off x="1280160" y="1371600"/>
            <a:ext cx="9326880" cy="4389120"/>
          </a:xfrm>
          <a:prstGeom prst="rect">
            <a:avLst/>
          </a:prstGeom>
          <a:noFill/>
        </p:spPr>
        <p:txBody>
          <a:bodyPr wrap="square">
            <a:spAutoFit/>
          </a:bodyPr>
          <a:lstStyle/>
          <a:p>
            <a:pPr>
              <a:spcAft>
                <a:spcPts val="800"/>
              </a:spcAft>
              <a:defRPr sz="2200"/>
            </a:pPr>
            <a:r>
              <a:t>Farmers and farm managers</a:t>
            </a:r>
          </a:p>
          <a:p>
            <a:pPr>
              <a:spcAft>
                <a:spcPts val="800"/>
              </a:spcAft>
              <a:defRPr sz="2200"/>
            </a:pPr>
            <a:r>
              <a:t>Agricultural planners</a:t>
            </a:r>
          </a:p>
          <a:p>
            <a:pPr>
              <a:spcAft>
                <a:spcPts val="800"/>
              </a:spcAft>
              <a:defRPr sz="2200"/>
            </a:pPr>
            <a:r>
              <a:t>Government and agriculture departments</a:t>
            </a:r>
          </a:p>
          <a:p>
            <a:pPr>
              <a:spcAft>
                <a:spcPts val="800"/>
              </a:spcAft>
              <a:defRPr sz="2200"/>
            </a:pPr>
            <a:r>
              <a:t>Agribusiness stakeholders</a:t>
            </a:r>
          </a:p>
          <a:p>
            <a:pPr>
              <a:spcAft>
                <a:spcPts val="800"/>
              </a:spcAft>
              <a:defRPr sz="2200"/>
            </a:pPr>
            <a:r>
              <a:t>Researchers</a:t>
            </a:r>
          </a:p>
          <a:p>
            <a:pPr>
              <a:spcAft>
                <a:spcPts val="800"/>
              </a:spcAft>
              <a:defRPr sz="2200"/>
            </a:pPr>
            <a:r>
              <a:t>Data analysts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17" name="TextBox 16"/>
          <p:cNvSpPr txBox="1"/>
          <p:nvPr/>
        </p:nvSpPr>
        <p:spPr>
          <a:xfrm>
            <a:off x="685800" y="411480"/>
            <a:ext cx="10789920" cy="594360"/>
          </a:xfrm>
          <a:prstGeom prst="rect">
            <a:avLst/>
          </a:prstGeom>
          <a:noFill/>
        </p:spPr>
        <p:txBody>
          <a:bodyPr wrap="square" anchor="t">
            <a:spAutoFit/>
          </a:bodyPr>
          <a:lstStyle/>
          <a:p>
            <a:pPr algn="l"/>
            <a:r>
              <a:rPr sz="2800" b="1"/>
              <a:t>Technology Used</a:t>
            </a:r>
          </a:p>
        </p:txBody>
      </p:sp>
      <p:sp>
        <p:nvSpPr>
          <p:cNvPr id="18" name="TextBox 17"/>
          <p:cNvSpPr txBox="1"/>
          <p:nvPr/>
        </p:nvSpPr>
        <p:spPr>
          <a:xfrm>
            <a:off x="1554480" y="1325880"/>
            <a:ext cx="8686800" cy="4389120"/>
          </a:xfrm>
          <a:prstGeom prst="rect">
            <a:avLst/>
          </a:prstGeom>
          <a:noFill/>
        </p:spPr>
        <p:txBody>
          <a:bodyPr wrap="square">
            <a:spAutoFit/>
          </a:bodyPr>
          <a:lstStyle/>
          <a:p>
            <a:pPr>
              <a:spcAft>
                <a:spcPts val="800"/>
              </a:spcAft>
              <a:defRPr sz="2200"/>
            </a:pPr>
            <a:r>
              <a:t>Python</a:t>
            </a:r>
          </a:p>
          <a:p>
            <a:pPr>
              <a:spcAft>
                <a:spcPts val="800"/>
              </a:spcAft>
              <a:defRPr sz="2200"/>
            </a:pPr>
            <a:r>
              <a:t>Pandas</a:t>
            </a:r>
          </a:p>
          <a:p>
            <a:pPr>
              <a:spcAft>
                <a:spcPts val="800"/>
              </a:spcAft>
              <a:defRPr sz="2200"/>
            </a:pPr>
            <a:r>
              <a:t>NumPy</a:t>
            </a:r>
          </a:p>
          <a:p>
            <a:pPr>
              <a:spcAft>
                <a:spcPts val="800"/>
              </a:spcAft>
              <a:defRPr sz="2200"/>
            </a:pPr>
            <a:r>
              <a:t>Matplotlib</a:t>
            </a:r>
          </a:p>
          <a:p>
            <a:pPr>
              <a:spcAft>
                <a:spcPts val="800"/>
              </a:spcAft>
              <a:defRPr sz="2200"/>
            </a:pPr>
            <a:r>
              <a:t>Seaborn</a:t>
            </a:r>
          </a:p>
          <a:p>
            <a:pPr>
              <a:spcAft>
                <a:spcPts val="800"/>
              </a:spcAft>
              <a:defRPr sz="2200"/>
            </a:pPr>
            <a:r>
              <a:t>Jupyter Notebook</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33" name="Picture 32" descr="image.png"/>
          <p:cNvPicPr>
            <a:picLocks noChangeAspect="1"/>
          </p:cNvPicPr>
          <p:nvPr/>
        </p:nvPicPr>
        <p:blipFill>
          <a:blip r:embed="rId3"/>
          <a:stretch>
            <a:fillRect/>
          </a:stretch>
        </p:blipFill>
        <p:spPr>
          <a:xfrm>
            <a:off x="777240" y="1417320"/>
            <a:ext cx="7406640" cy="4069080"/>
          </a:xfrm>
          <a:prstGeom prst="rect">
            <a:avLst/>
          </a:prstGeom>
        </p:spPr>
      </p:pic>
      <p:pic>
        <p:nvPicPr>
          <p:cNvPr id="35" name="Picture 34" descr="yield_season_clean.png"/>
          <p:cNvPicPr>
            <a:picLocks noChangeAspect="1"/>
          </p:cNvPicPr>
          <p:nvPr/>
        </p:nvPicPr>
        <p:blipFill>
          <a:blip r:embed="rId4"/>
          <a:stretch>
            <a:fillRect/>
          </a:stretch>
        </p:blipFill>
        <p:spPr>
          <a:xfrm>
            <a:off x="502920" y="914400"/>
            <a:ext cx="8138160" cy="4480560"/>
          </a:xfrm>
          <a:prstGeom prst="rect">
            <a:avLst/>
          </a:prstGeom>
        </p:spPr>
      </p:pic>
      <p:sp>
        <p:nvSpPr>
          <p:cNvPr id="36" name="TextBox 35"/>
          <p:cNvSpPr txBox="1"/>
          <p:nvPr/>
        </p:nvSpPr>
        <p:spPr>
          <a:xfrm>
            <a:off x="502920" y="228600"/>
            <a:ext cx="10972800" cy="502920"/>
          </a:xfrm>
          <a:prstGeom prst="rect">
            <a:avLst/>
          </a:prstGeom>
          <a:noFill/>
        </p:spPr>
        <p:txBody>
          <a:bodyPr wrap="square" anchor="t">
            <a:spAutoFit/>
          </a:bodyPr>
          <a:lstStyle/>
          <a:p>
            <a:pPr algn="l"/>
            <a:r>
              <a:rPr sz="2400" b="1"/>
              <a:t>RESULTS — Seasonal Yield Analysis</a:t>
            </a:r>
          </a:p>
        </p:txBody>
      </p:sp>
      <p:pic>
        <p:nvPicPr>
          <p:cNvPr id="37" name="Picture 36" descr="s6_yield.png"/>
          <p:cNvPicPr>
            <a:picLocks noChangeAspect="1"/>
          </p:cNvPicPr>
          <p:nvPr/>
        </p:nvPicPr>
        <p:blipFill>
          <a:blip r:embed="rId5"/>
          <a:stretch>
            <a:fillRect/>
          </a:stretch>
        </p:blipFill>
        <p:spPr>
          <a:xfrm>
            <a:off x="502920" y="914400"/>
            <a:ext cx="8138160" cy="4480560"/>
          </a:xfrm>
          <a:prstGeom prst="rect">
            <a:avLst/>
          </a:prstGeom>
        </p:spPr>
      </p:pic>
      <p:sp>
        <p:nvSpPr>
          <p:cNvPr id="38" name="TextBox 37"/>
          <p:cNvSpPr txBox="1"/>
          <p:nvPr/>
        </p:nvSpPr>
        <p:spPr>
          <a:xfrm>
            <a:off x="8823960" y="1143000"/>
            <a:ext cx="2377440" cy="365760"/>
          </a:xfrm>
          <a:prstGeom prst="rect">
            <a:avLst/>
          </a:prstGeom>
          <a:noFill/>
        </p:spPr>
        <p:txBody>
          <a:bodyPr wrap="square" anchor="t">
            <a:spAutoFit/>
          </a:bodyPr>
          <a:lstStyle/>
          <a:p>
            <a:pPr algn="l"/>
            <a:r>
              <a:rPr sz="1700" b="1"/>
              <a:t>KEY INSIGHT</a:t>
            </a:r>
          </a:p>
        </p:txBody>
      </p:sp>
      <p:sp>
        <p:nvSpPr>
          <p:cNvPr id="39" name="TextBox 38"/>
          <p:cNvSpPr txBox="1"/>
          <p:nvPr/>
        </p:nvSpPr>
        <p:spPr>
          <a:xfrm>
            <a:off x="8823960" y="1600200"/>
            <a:ext cx="2423160" cy="3200400"/>
          </a:xfrm>
          <a:prstGeom prst="rect">
            <a:avLst/>
          </a:prstGeom>
          <a:noFill/>
        </p:spPr>
        <p:txBody>
          <a:bodyPr wrap="square" anchor="t">
            <a:spAutoFit/>
          </a:bodyPr>
          <a:lstStyle/>
          <a:p>
            <a:pPr algn="l"/>
            <a:r>
              <a:rPr sz="1400" b="0"/>
              <a:t>Kharif: 5.63 tonnes/ha
Rabi: 5.04 tonnes/ha
Zaid: 4.64 tonnes/ha
Kharif records the highest average yield.</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sp>
        <p:nvSpPr>
          <p:cNvPr id="31" name="TextBox 30"/>
          <p:cNvSpPr txBox="1"/>
          <p:nvPr/>
        </p:nvSpPr>
        <p:spPr>
          <a:xfrm>
            <a:off x="685800" y="411480"/>
            <a:ext cx="10789920" cy="502920"/>
          </a:xfrm>
          <a:prstGeom prst="rect">
            <a:avLst/>
          </a:prstGeom>
          <a:noFill/>
        </p:spPr>
        <p:txBody>
          <a:bodyPr wrap="none">
            <a:spAutoFit/>
          </a:bodyPr>
          <a:lstStyle/>
          <a:p>
            <a:r>
              <a:rPr sz="2400" b="1"/>
              <a:t>RESULTS — Seasonal Profit Analysis</a:t>
            </a:r>
          </a:p>
        </p:txBody>
      </p:sp>
      <p:sp>
        <p:nvSpPr>
          <p:cNvPr id="33" name="TextBox 32"/>
          <p:cNvSpPr txBox="1"/>
          <p:nvPr/>
        </p:nvSpPr>
        <p:spPr>
          <a:xfrm>
            <a:off x="777240" y="4983480"/>
            <a:ext cx="10332720" cy="320040"/>
          </a:xfrm>
          <a:prstGeom prst="rect">
            <a:avLst/>
          </a:prstGeom>
          <a:noFill/>
        </p:spPr>
        <p:txBody>
          <a:bodyPr wrap="none">
            <a:spAutoFit/>
          </a:bodyPr>
          <a:lstStyle/>
          <a:p>
            <a:r>
              <a:rPr sz="1500" b="1"/>
              <a:t>KEY INSIGHT</a:t>
            </a:r>
          </a:p>
        </p:txBody>
      </p:sp>
      <p:sp>
        <p:nvSpPr>
          <p:cNvPr id="34" name="TextBox 33"/>
          <p:cNvSpPr txBox="1"/>
          <p:nvPr/>
        </p:nvSpPr>
        <p:spPr>
          <a:xfrm>
            <a:off x="777240" y="5321808"/>
            <a:ext cx="10332720" cy="640080"/>
          </a:xfrm>
          <a:prstGeom prst="rect">
            <a:avLst/>
          </a:prstGeom>
          <a:noFill/>
        </p:spPr>
        <p:txBody>
          <a:bodyPr wrap="none">
            <a:spAutoFit/>
          </a:bodyPr>
          <a:lstStyle/>
          <a:p>
            <a:r>
              <a:rPr sz="1400"/>
              <a:t>Kharif: ₹178,915  |  Rabi: ₹87,689  |  Zaid: −₹24,805</a:t>
            </a:r>
          </a:p>
          <a:p>
            <a:r>
              <a:rPr sz="1400"/>
              <a:t>Zaid records an average loss.</a:t>
            </a:r>
          </a:p>
        </p:txBody>
      </p:sp>
      <p:pic>
        <p:nvPicPr>
          <p:cNvPr id="35" name="Picture 34" descr="slide7_profit_chart_clean_v2.png"/>
          <p:cNvPicPr>
            <a:picLocks noChangeAspect="1"/>
          </p:cNvPicPr>
          <p:nvPr/>
        </p:nvPicPr>
        <p:blipFill>
          <a:blip r:embed="rId8"/>
          <a:stretch>
            <a:fillRect/>
          </a:stretch>
        </p:blipFill>
        <p:spPr>
          <a:xfrm>
            <a:off x="914400" y="1078992"/>
            <a:ext cx="10287000" cy="387248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32" name="Picture 31" descr="profit_season.png"/>
          <p:cNvPicPr>
            <a:picLocks noChangeAspect="1"/>
          </p:cNvPicPr>
          <p:nvPr/>
        </p:nvPicPr>
        <p:blipFill>
          <a:blip r:embed="rId3"/>
          <a:stretch>
            <a:fillRect/>
          </a:stretch>
        </p:blipFill>
        <p:spPr>
          <a:xfrm>
            <a:off x="731520" y="1325880"/>
            <a:ext cx="7315200" cy="4160520"/>
          </a:xfrm>
          <a:prstGeom prst="rect">
            <a:avLst/>
          </a:prstGeom>
        </p:spPr>
      </p:pic>
      <p:pic>
        <p:nvPicPr>
          <p:cNvPr id="34" name="Picture 33" descr="revenue_cost_season_clean.png"/>
          <p:cNvPicPr>
            <a:picLocks noChangeAspect="1"/>
          </p:cNvPicPr>
          <p:nvPr/>
        </p:nvPicPr>
        <p:blipFill>
          <a:blip r:embed="rId4"/>
          <a:stretch>
            <a:fillRect/>
          </a:stretch>
        </p:blipFill>
        <p:spPr>
          <a:xfrm>
            <a:off x="502920" y="914400"/>
            <a:ext cx="8138160" cy="4480560"/>
          </a:xfrm>
          <a:prstGeom prst="rect">
            <a:avLst/>
          </a:prstGeom>
        </p:spPr>
      </p:pic>
      <p:sp>
        <p:nvSpPr>
          <p:cNvPr id="35" name="TextBox 34"/>
          <p:cNvSpPr txBox="1"/>
          <p:nvPr/>
        </p:nvSpPr>
        <p:spPr>
          <a:xfrm>
            <a:off x="502920" y="228600"/>
            <a:ext cx="10972800" cy="502920"/>
          </a:xfrm>
          <a:prstGeom prst="rect">
            <a:avLst/>
          </a:prstGeom>
          <a:noFill/>
        </p:spPr>
        <p:txBody>
          <a:bodyPr wrap="square" anchor="t">
            <a:spAutoFit/>
          </a:bodyPr>
          <a:lstStyle/>
          <a:p>
            <a:pPr algn="l"/>
            <a:r>
              <a:rPr sz="2400" b="1"/>
              <a:t>RESULTS — Revenue vs Cost by Season</a:t>
            </a:r>
          </a:p>
        </p:txBody>
      </p:sp>
      <p:pic>
        <p:nvPicPr>
          <p:cNvPr id="36" name="Picture 35" descr="s8_revenue_cost.png"/>
          <p:cNvPicPr>
            <a:picLocks noChangeAspect="1"/>
          </p:cNvPicPr>
          <p:nvPr/>
        </p:nvPicPr>
        <p:blipFill>
          <a:blip r:embed="rId5"/>
          <a:stretch>
            <a:fillRect/>
          </a:stretch>
        </p:blipFill>
        <p:spPr>
          <a:xfrm>
            <a:off x="502920" y="914400"/>
            <a:ext cx="8138160" cy="4480560"/>
          </a:xfrm>
          <a:prstGeom prst="rect">
            <a:avLst/>
          </a:prstGeom>
        </p:spPr>
      </p:pic>
      <p:sp>
        <p:nvSpPr>
          <p:cNvPr id="37" name="TextBox 36"/>
          <p:cNvSpPr txBox="1"/>
          <p:nvPr/>
        </p:nvSpPr>
        <p:spPr>
          <a:xfrm>
            <a:off x="8823960" y="1143000"/>
            <a:ext cx="2377440" cy="365760"/>
          </a:xfrm>
          <a:prstGeom prst="rect">
            <a:avLst/>
          </a:prstGeom>
          <a:noFill/>
        </p:spPr>
        <p:txBody>
          <a:bodyPr wrap="square" anchor="t">
            <a:spAutoFit/>
          </a:bodyPr>
          <a:lstStyle/>
          <a:p>
            <a:pPr algn="l"/>
            <a:r>
              <a:rPr sz="1700" b="1"/>
              <a:t>KEY INSIGHT</a:t>
            </a:r>
          </a:p>
        </p:txBody>
      </p:sp>
      <p:sp>
        <p:nvSpPr>
          <p:cNvPr id="38" name="TextBox 37"/>
          <p:cNvSpPr txBox="1"/>
          <p:nvPr/>
        </p:nvSpPr>
        <p:spPr>
          <a:xfrm>
            <a:off x="8823960" y="1600200"/>
            <a:ext cx="2423160" cy="3200400"/>
          </a:xfrm>
          <a:prstGeom prst="rect">
            <a:avLst/>
          </a:prstGeom>
          <a:noFill/>
        </p:spPr>
        <p:txBody>
          <a:bodyPr wrap="square" anchor="t">
            <a:spAutoFit/>
          </a:bodyPr>
          <a:lstStyle/>
          <a:p>
            <a:pPr algn="l"/>
            <a:r>
              <a:rPr sz="1400" b="0"/>
              <a:t>Kharif: Revenue ₹7.11L | Cost ₹5.32L
Rabi: Revenue ₹6.02L | Cost ₹5.14L
Zaid: Revenue ₹5.19L | Cost ₹5.44L
Zaid is the only season where average cost exceeds revenue.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32" name="Picture 31" descr="revenue_cost_season.png"/>
          <p:cNvPicPr>
            <a:picLocks noChangeAspect="1"/>
          </p:cNvPicPr>
          <p:nvPr/>
        </p:nvPicPr>
        <p:blipFill>
          <a:blip r:embed="rId3"/>
          <a:stretch>
            <a:fillRect/>
          </a:stretch>
        </p:blipFill>
        <p:spPr>
          <a:xfrm>
            <a:off x="731520" y="1325880"/>
            <a:ext cx="7315200" cy="4160520"/>
          </a:xfrm>
          <a:prstGeom prst="rect">
            <a:avLst/>
          </a:prstGeom>
        </p:spPr>
      </p:pic>
      <p:sp>
        <p:nvSpPr>
          <p:cNvPr id="33" name="TextBox 32"/>
          <p:cNvSpPr txBox="1"/>
          <p:nvPr/>
        </p:nvSpPr>
        <p:spPr>
          <a:xfrm>
            <a:off x="502920" y="228600"/>
            <a:ext cx="10972800" cy="502920"/>
          </a:xfrm>
          <a:prstGeom prst="rect">
            <a:avLst/>
          </a:prstGeom>
          <a:noFill/>
        </p:spPr>
        <p:txBody>
          <a:bodyPr wrap="square" anchor="t">
            <a:spAutoFit/>
          </a:bodyPr>
          <a:lstStyle/>
          <a:p>
            <a:pPr algn="l"/>
            <a:r>
              <a:rPr sz="2400" b="1"/>
              <a:t>RESULTS — Rainfall vs Agricultural Yield</a:t>
            </a:r>
          </a:p>
        </p:txBody>
      </p:sp>
      <p:pic>
        <p:nvPicPr>
          <p:cNvPr id="34" name="Picture 33" descr="s9_rainfall_yield.png"/>
          <p:cNvPicPr>
            <a:picLocks noChangeAspect="1"/>
          </p:cNvPicPr>
          <p:nvPr/>
        </p:nvPicPr>
        <p:blipFill>
          <a:blip r:embed="rId4"/>
          <a:stretch>
            <a:fillRect/>
          </a:stretch>
        </p:blipFill>
        <p:spPr>
          <a:xfrm>
            <a:off x="502920" y="914400"/>
            <a:ext cx="8138160" cy="4480560"/>
          </a:xfrm>
          <a:prstGeom prst="rect">
            <a:avLst/>
          </a:prstGeom>
        </p:spPr>
      </p:pic>
      <p:sp>
        <p:nvSpPr>
          <p:cNvPr id="35" name="TextBox 34"/>
          <p:cNvSpPr txBox="1"/>
          <p:nvPr/>
        </p:nvSpPr>
        <p:spPr>
          <a:xfrm>
            <a:off x="8823960" y="1143000"/>
            <a:ext cx="2377440" cy="365760"/>
          </a:xfrm>
          <a:prstGeom prst="rect">
            <a:avLst/>
          </a:prstGeom>
          <a:noFill/>
        </p:spPr>
        <p:txBody>
          <a:bodyPr wrap="square" anchor="t">
            <a:spAutoFit/>
          </a:bodyPr>
          <a:lstStyle/>
          <a:p>
            <a:pPr algn="l"/>
            <a:r>
              <a:rPr sz="1700" b="1"/>
              <a:t>KEY INSIGHT</a:t>
            </a:r>
          </a:p>
        </p:txBody>
      </p:sp>
      <p:sp>
        <p:nvSpPr>
          <p:cNvPr id="36" name="TextBox 35"/>
          <p:cNvSpPr txBox="1"/>
          <p:nvPr/>
        </p:nvSpPr>
        <p:spPr>
          <a:xfrm>
            <a:off x="8823960" y="1600200"/>
            <a:ext cx="2423160" cy="3200400"/>
          </a:xfrm>
          <a:prstGeom prst="rect">
            <a:avLst/>
          </a:prstGeom>
          <a:noFill/>
        </p:spPr>
        <p:txBody>
          <a:bodyPr wrap="square" anchor="t">
            <a:spAutoFit/>
          </a:bodyPr>
          <a:lstStyle/>
          <a:p>
            <a:pPr algn="l"/>
            <a:r>
              <a:rPr sz="1400" b="0"/>
              <a:t>Correlation with yield: 0.03
The plot shows a widely scattered relationship. Rainfall has a very weak linear association with yield.</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32" name="Picture 31" descr="rainfall_yield.png"/>
          <p:cNvPicPr>
            <a:picLocks noChangeAspect="1"/>
          </p:cNvPicPr>
          <p:nvPr/>
        </p:nvPicPr>
        <p:blipFill>
          <a:blip r:embed="rId3"/>
          <a:stretch>
            <a:fillRect/>
          </a:stretch>
        </p:blipFill>
        <p:spPr>
          <a:xfrm>
            <a:off x="731520" y="1325880"/>
            <a:ext cx="7315200" cy="4160520"/>
          </a:xfrm>
          <a:prstGeom prst="rect">
            <a:avLst/>
          </a:prstGeom>
        </p:spPr>
      </p:pic>
      <p:pic>
        <p:nvPicPr>
          <p:cNvPr id="34" name="Picture 33" descr="e8397775-25de-4e38-8693-a314495f1120.png"/>
          <p:cNvPicPr>
            <a:picLocks noChangeAspect="1"/>
          </p:cNvPicPr>
          <p:nvPr/>
        </p:nvPicPr>
        <p:blipFill>
          <a:blip r:embed="rId4"/>
          <a:stretch>
            <a:fillRect/>
          </a:stretch>
        </p:blipFill>
        <p:spPr>
          <a:xfrm>
            <a:off x="640080" y="960120"/>
            <a:ext cx="7955279" cy="4343400"/>
          </a:xfrm>
          <a:prstGeom prst="rect">
            <a:avLst/>
          </a:prstGeom>
        </p:spPr>
      </p:pic>
      <p:pic>
        <p:nvPicPr>
          <p:cNvPr id="36" name="Picture 35" descr="temperature_yield_clean.png"/>
          <p:cNvPicPr>
            <a:picLocks noChangeAspect="1"/>
          </p:cNvPicPr>
          <p:nvPr/>
        </p:nvPicPr>
        <p:blipFill>
          <a:blip r:embed="rId5"/>
          <a:stretch>
            <a:fillRect/>
          </a:stretch>
        </p:blipFill>
        <p:spPr>
          <a:xfrm>
            <a:off x="502920" y="914400"/>
            <a:ext cx="8138160" cy="4480560"/>
          </a:xfrm>
          <a:prstGeom prst="rect">
            <a:avLst/>
          </a:prstGeom>
        </p:spPr>
      </p:pic>
      <p:sp>
        <p:nvSpPr>
          <p:cNvPr id="37" name="TextBox 36"/>
          <p:cNvSpPr txBox="1"/>
          <p:nvPr/>
        </p:nvSpPr>
        <p:spPr>
          <a:xfrm>
            <a:off x="502920" y="228600"/>
            <a:ext cx="10972800" cy="502920"/>
          </a:xfrm>
          <a:prstGeom prst="rect">
            <a:avLst/>
          </a:prstGeom>
          <a:noFill/>
        </p:spPr>
        <p:txBody>
          <a:bodyPr wrap="square" anchor="t">
            <a:spAutoFit/>
          </a:bodyPr>
          <a:lstStyle/>
          <a:p>
            <a:pPr algn="l"/>
            <a:r>
              <a:rPr sz="2400" b="1"/>
              <a:t>RESULTS — Temperature vs Agricultural Yield</a:t>
            </a:r>
          </a:p>
        </p:txBody>
      </p:sp>
      <p:pic>
        <p:nvPicPr>
          <p:cNvPr id="38" name="Picture 37" descr="s10_temperature_yield.png"/>
          <p:cNvPicPr>
            <a:picLocks noChangeAspect="1"/>
          </p:cNvPicPr>
          <p:nvPr/>
        </p:nvPicPr>
        <p:blipFill>
          <a:blip r:embed="rId6"/>
          <a:stretch>
            <a:fillRect/>
          </a:stretch>
        </p:blipFill>
        <p:spPr>
          <a:xfrm>
            <a:off x="502920" y="914400"/>
            <a:ext cx="8138160" cy="4480560"/>
          </a:xfrm>
          <a:prstGeom prst="rect">
            <a:avLst/>
          </a:prstGeom>
        </p:spPr>
      </p:pic>
      <p:sp>
        <p:nvSpPr>
          <p:cNvPr id="39" name="TextBox 38"/>
          <p:cNvSpPr txBox="1"/>
          <p:nvPr/>
        </p:nvSpPr>
        <p:spPr>
          <a:xfrm>
            <a:off x="8823960" y="1143000"/>
            <a:ext cx="2377440" cy="365760"/>
          </a:xfrm>
          <a:prstGeom prst="rect">
            <a:avLst/>
          </a:prstGeom>
          <a:noFill/>
        </p:spPr>
        <p:txBody>
          <a:bodyPr wrap="square" anchor="t">
            <a:spAutoFit/>
          </a:bodyPr>
          <a:lstStyle/>
          <a:p>
            <a:pPr algn="l"/>
            <a:r>
              <a:rPr sz="1700" b="1"/>
              <a:t>KEY INSIGHT</a:t>
            </a:r>
          </a:p>
        </p:txBody>
      </p:sp>
      <p:sp>
        <p:nvSpPr>
          <p:cNvPr id="40" name="TextBox 39"/>
          <p:cNvSpPr txBox="1"/>
          <p:nvPr/>
        </p:nvSpPr>
        <p:spPr>
          <a:xfrm>
            <a:off x="8823960" y="1600200"/>
            <a:ext cx="2423160" cy="3200400"/>
          </a:xfrm>
          <a:prstGeom prst="rect">
            <a:avLst/>
          </a:prstGeom>
          <a:noFill/>
        </p:spPr>
        <p:txBody>
          <a:bodyPr wrap="square" anchor="t">
            <a:spAutoFit/>
          </a:bodyPr>
          <a:lstStyle/>
          <a:p>
            <a:pPr algn="l"/>
            <a:r>
              <a:rPr sz="1400" b="0"/>
              <a:t>Correlation with yield: 0.01
The plot shows a widely scattered relationship. Temperature has a very weak linear association with yield.</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25" name="Picture 24" descr="temperature_yield.png"/>
          <p:cNvPicPr>
            <a:picLocks noChangeAspect="1"/>
          </p:cNvPicPr>
          <p:nvPr/>
        </p:nvPicPr>
        <p:blipFill>
          <a:blip r:embed="rId3"/>
          <a:stretch>
            <a:fillRect/>
          </a:stretch>
        </p:blipFill>
        <p:spPr>
          <a:xfrm>
            <a:off x="731520" y="1325880"/>
            <a:ext cx="7315200" cy="4160520"/>
          </a:xfrm>
          <a:prstGeom prst="rect">
            <a:avLst/>
          </a:prstGeom>
        </p:spPr>
      </p:pic>
      <p:pic>
        <p:nvPicPr>
          <p:cNvPr id="27" name="Picture 26" descr="1e811ce8-66e6-49a1-a0f7-23e8a57c3c92.png"/>
          <p:cNvPicPr>
            <a:picLocks noChangeAspect="1"/>
          </p:cNvPicPr>
          <p:nvPr/>
        </p:nvPicPr>
        <p:blipFill>
          <a:blip r:embed="rId4"/>
          <a:stretch>
            <a:fillRect/>
          </a:stretch>
        </p:blipFill>
        <p:spPr>
          <a:xfrm>
            <a:off x="640080" y="960120"/>
            <a:ext cx="7955279" cy="4343400"/>
          </a:xfrm>
          <a:prstGeom prst="rect">
            <a:avLst/>
          </a:prstGeom>
        </p:spPr>
      </p:pic>
      <p:pic>
        <p:nvPicPr>
          <p:cNvPr id="29" name="Picture 28" descr="water_efficiency_clean.png"/>
          <p:cNvPicPr>
            <a:picLocks noChangeAspect="1"/>
          </p:cNvPicPr>
          <p:nvPr/>
        </p:nvPicPr>
        <p:blipFill>
          <a:blip r:embed="rId5"/>
          <a:stretch>
            <a:fillRect/>
          </a:stretch>
        </p:blipFill>
        <p:spPr>
          <a:xfrm>
            <a:off x="502920" y="914400"/>
            <a:ext cx="8138160" cy="4480560"/>
          </a:xfrm>
          <a:prstGeom prst="rect">
            <a:avLst/>
          </a:prstGeom>
        </p:spPr>
      </p:pic>
      <p:sp>
        <p:nvSpPr>
          <p:cNvPr id="30" name="TextBox 29"/>
          <p:cNvSpPr txBox="1"/>
          <p:nvPr/>
        </p:nvSpPr>
        <p:spPr>
          <a:xfrm>
            <a:off x="502920" y="228600"/>
            <a:ext cx="10972800" cy="502920"/>
          </a:xfrm>
          <a:prstGeom prst="rect">
            <a:avLst/>
          </a:prstGeom>
          <a:noFill/>
        </p:spPr>
        <p:txBody>
          <a:bodyPr wrap="square" anchor="t">
            <a:spAutoFit/>
          </a:bodyPr>
          <a:lstStyle/>
          <a:p>
            <a:pPr algn="l"/>
            <a:r>
              <a:rPr sz="2400" b="1"/>
              <a:t>RESULTS — Average Water Efficiency by Season</a:t>
            </a:r>
          </a:p>
        </p:txBody>
      </p:sp>
      <p:pic>
        <p:nvPicPr>
          <p:cNvPr id="31" name="Picture 30" descr="s11_water_efficiency.png"/>
          <p:cNvPicPr>
            <a:picLocks noChangeAspect="1"/>
          </p:cNvPicPr>
          <p:nvPr/>
        </p:nvPicPr>
        <p:blipFill>
          <a:blip r:embed="rId6"/>
          <a:stretch>
            <a:fillRect/>
          </a:stretch>
        </p:blipFill>
        <p:spPr>
          <a:xfrm>
            <a:off x="502920" y="914400"/>
            <a:ext cx="8138160" cy="4480560"/>
          </a:xfrm>
          <a:prstGeom prst="rect">
            <a:avLst/>
          </a:prstGeom>
        </p:spPr>
      </p:pic>
      <p:sp>
        <p:nvSpPr>
          <p:cNvPr id="32" name="TextBox 31"/>
          <p:cNvSpPr txBox="1"/>
          <p:nvPr/>
        </p:nvSpPr>
        <p:spPr>
          <a:xfrm>
            <a:off x="8823960" y="1143000"/>
            <a:ext cx="2377440" cy="365760"/>
          </a:xfrm>
          <a:prstGeom prst="rect">
            <a:avLst/>
          </a:prstGeom>
          <a:noFill/>
        </p:spPr>
        <p:txBody>
          <a:bodyPr wrap="square" anchor="t">
            <a:spAutoFit/>
          </a:bodyPr>
          <a:lstStyle/>
          <a:p>
            <a:pPr algn="l"/>
            <a:r>
              <a:rPr sz="1700" b="1"/>
              <a:t>KEY INSIGHT</a:t>
            </a:r>
          </a:p>
        </p:txBody>
      </p:sp>
      <p:sp>
        <p:nvSpPr>
          <p:cNvPr id="33" name="TextBox 32"/>
          <p:cNvSpPr txBox="1"/>
          <p:nvPr/>
        </p:nvSpPr>
        <p:spPr>
          <a:xfrm>
            <a:off x="8823960" y="1600200"/>
            <a:ext cx="2423160" cy="3200400"/>
          </a:xfrm>
          <a:prstGeom prst="rect">
            <a:avLst/>
          </a:prstGeom>
          <a:noFill/>
        </p:spPr>
        <p:txBody>
          <a:bodyPr wrap="square" anchor="t">
            <a:spAutoFit/>
          </a:bodyPr>
          <a:lstStyle/>
          <a:p>
            <a:pPr algn="l"/>
            <a:r>
              <a:rPr sz="1400" b="0"/>
              <a:t>Kharif: 5.89 tonnes/1000 m³
Rabi: 5.19 tonnes/1000 m³
Zaid: 4.41 tonnes/1000 m³
Kharif records the highest average water efficiency.</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594360" y="320040"/>
            <a:ext cx="10789920" cy="548640"/>
          </a:xfrm>
          <a:prstGeom prst="rect">
            <a:avLst/>
          </a:prstGeom>
          <a:noFill/>
        </p:spPr>
        <p:txBody>
          <a:bodyPr wrap="square" anchor="t">
            <a:spAutoFit/>
          </a:bodyPr>
          <a:lstStyle/>
          <a:p>
            <a:pPr algn="l"/>
            <a:r>
              <a:rPr sz="2600" b="1"/>
              <a:t>GitHub Link &amp; Future Scope</a:t>
            </a:r>
          </a:p>
        </p:txBody>
      </p:sp>
      <p:sp>
        <p:nvSpPr>
          <p:cNvPr id="25" name="TextBox 24"/>
          <p:cNvSpPr txBox="1"/>
          <p:nvPr/>
        </p:nvSpPr>
        <p:spPr>
          <a:xfrm>
            <a:off x="822960" y="1051560"/>
            <a:ext cx="10058400" cy="411480"/>
          </a:xfrm>
          <a:prstGeom prst="rect">
            <a:avLst/>
          </a:prstGeom>
          <a:noFill/>
        </p:spPr>
        <p:txBody>
          <a:bodyPr wrap="square" anchor="t">
            <a:spAutoFit/>
          </a:bodyPr>
          <a:lstStyle/>
          <a:p>
            <a:pPr algn="l"/>
            <a:r>
              <a:rPr sz="2000" b="1"/>
              <a:t>Project Repository</a:t>
            </a:r>
          </a:p>
        </p:txBody>
      </p:sp>
      <p:sp>
        <p:nvSpPr>
          <p:cNvPr id="26" name="TextBox 25"/>
          <p:cNvSpPr txBox="1"/>
          <p:nvPr/>
        </p:nvSpPr>
        <p:spPr>
          <a:xfrm>
            <a:off x="822960" y="1508760"/>
            <a:ext cx="10241280" cy="502920"/>
          </a:xfrm>
          <a:prstGeom prst="rect">
            <a:avLst/>
          </a:prstGeom>
          <a:noFill/>
        </p:spPr>
        <p:txBody>
          <a:bodyPr wrap="square" anchor="t">
            <a:spAutoFit/>
          </a:bodyPr>
          <a:lstStyle/>
          <a:p>
            <a:pPr algn="l"/>
            <a:r>
              <a:rPr sz="1400" b="0">
                <a:hlinkClick r:id="rId3"/>
              </a:rPr>
              <a:t>https://github.com/Surabhikushwaha/Seasonal-Agriculture-Performance-Analysis</a:t>
            </a:r>
          </a:p>
        </p:txBody>
      </p:sp>
      <p:sp>
        <p:nvSpPr>
          <p:cNvPr id="27" name="TextBox 26"/>
          <p:cNvSpPr txBox="1"/>
          <p:nvPr/>
        </p:nvSpPr>
        <p:spPr>
          <a:xfrm>
            <a:off x="822960" y="2057400"/>
            <a:ext cx="10241280" cy="411480"/>
          </a:xfrm>
          <a:prstGeom prst="rect">
            <a:avLst/>
          </a:prstGeom>
          <a:noFill/>
        </p:spPr>
        <p:txBody>
          <a:bodyPr wrap="square" anchor="t">
            <a:spAutoFit/>
          </a:bodyPr>
          <a:lstStyle/>
          <a:p>
            <a:pPr algn="l"/>
            <a:r>
              <a:rPr sz="1600" b="0"/>
              <a:t>Project Files: Jupyter Notebook • Dataset • README Documentation</a:t>
            </a:r>
          </a:p>
        </p:txBody>
      </p:sp>
      <p:sp>
        <p:nvSpPr>
          <p:cNvPr id="28" name="TextBox 27"/>
          <p:cNvSpPr txBox="1"/>
          <p:nvPr/>
        </p:nvSpPr>
        <p:spPr>
          <a:xfrm>
            <a:off x="822960" y="2651760"/>
            <a:ext cx="10058400" cy="411480"/>
          </a:xfrm>
          <a:prstGeom prst="rect">
            <a:avLst/>
          </a:prstGeom>
          <a:noFill/>
        </p:spPr>
        <p:txBody>
          <a:bodyPr wrap="square" anchor="t">
            <a:spAutoFit/>
          </a:bodyPr>
          <a:lstStyle/>
          <a:p>
            <a:pPr algn="l"/>
            <a:r>
              <a:rPr sz="2000" b="1"/>
              <a:t>Future Scope</a:t>
            </a:r>
          </a:p>
        </p:txBody>
      </p:sp>
      <p:sp>
        <p:nvSpPr>
          <p:cNvPr id="29" name="TextBox 28"/>
          <p:cNvSpPr txBox="1"/>
          <p:nvPr/>
        </p:nvSpPr>
        <p:spPr>
          <a:xfrm>
            <a:off x="960120" y="3108960"/>
            <a:ext cx="9784080" cy="1645920"/>
          </a:xfrm>
          <a:prstGeom prst="rect">
            <a:avLst/>
          </a:prstGeom>
          <a:noFill/>
        </p:spPr>
        <p:txBody>
          <a:bodyPr wrap="square" anchor="t">
            <a:spAutoFit/>
          </a:bodyPr>
          <a:lstStyle/>
          <a:p>
            <a:pPr algn="l"/>
            <a:r>
              <a:rPr sz="1600" b="0"/>
              <a:t>• Machine-learning based yield and profit prediction
• Real-time weather integration
• Interactive agricultural dashboard
• Crop- and district-level recommendations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594360" y="274320"/>
            <a:ext cx="10789920" cy="502920"/>
          </a:xfrm>
          <a:prstGeom prst="rect">
            <a:avLst/>
          </a:prstGeom>
          <a:noFill/>
        </p:spPr>
        <p:txBody>
          <a:bodyPr wrap="square" anchor="t">
            <a:spAutoFit/>
          </a:bodyPr>
          <a:lstStyle/>
          <a:p>
            <a:pPr algn="l"/>
            <a:r>
              <a:rPr sz="2600" b="1"/>
              <a:t>VOIS Course Completion Certificate</a:t>
            </a:r>
          </a:p>
        </p:txBody>
      </p:sp>
      <p:sp>
        <p:nvSpPr>
          <p:cNvPr id="25" name="TextBox 24"/>
          <p:cNvSpPr txBox="1"/>
          <p:nvPr/>
        </p:nvSpPr>
        <p:spPr>
          <a:xfrm>
            <a:off x="822960" y="822960"/>
            <a:ext cx="10058400" cy="365760"/>
          </a:xfrm>
          <a:prstGeom prst="rect">
            <a:avLst/>
          </a:prstGeom>
          <a:noFill/>
        </p:spPr>
        <p:txBody>
          <a:bodyPr wrap="square" anchor="t">
            <a:spAutoFit/>
          </a:bodyPr>
          <a:lstStyle/>
          <a:p>
            <a:pPr algn="l"/>
            <a:r>
              <a:rPr sz="1900" b="1"/>
              <a:t>Course Name: Data Visualization</a:t>
            </a:r>
          </a:p>
        </p:txBody>
      </p:sp>
      <p:pic>
        <p:nvPicPr>
          <p:cNvPr id="26" name="Picture 25" descr="certificate_rendered.png"/>
          <p:cNvPicPr>
            <a:picLocks noChangeAspect="1"/>
          </p:cNvPicPr>
          <p:nvPr/>
        </p:nvPicPr>
        <p:blipFill>
          <a:blip r:embed="rId3"/>
          <a:stretch>
            <a:fillRect/>
          </a:stretch>
        </p:blipFill>
        <p:spPr>
          <a:xfrm>
            <a:off x="914400" y="1234440"/>
            <a:ext cx="10058400" cy="47548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6" name="TextBox 45"/>
          <p:cNvSpPr txBox="1"/>
          <p:nvPr/>
        </p:nvSpPr>
        <p:spPr>
          <a:xfrm>
            <a:off x="731520" y="1828800"/>
            <a:ext cx="10698480" cy="777240"/>
          </a:xfrm>
          <a:prstGeom prst="rect">
            <a:avLst/>
          </a:prstGeom>
          <a:noFill/>
        </p:spPr>
        <p:txBody>
          <a:bodyPr wrap="square" anchor="t">
            <a:spAutoFit/>
          </a:bodyPr>
          <a:lstStyle/>
          <a:p>
            <a:pPr algn="ctr"/>
            <a:r>
              <a:rPr sz="3600" b="1"/>
              <a:t>Thank You</a:t>
            </a:r>
          </a:p>
        </p:txBody>
      </p:sp>
      <p:sp>
        <p:nvSpPr>
          <p:cNvPr id="47" name="TextBox 46"/>
          <p:cNvSpPr txBox="1"/>
          <p:nvPr/>
        </p:nvSpPr>
        <p:spPr>
          <a:xfrm>
            <a:off x="1371600" y="2743200"/>
            <a:ext cx="9601200" cy="457200"/>
          </a:xfrm>
          <a:prstGeom prst="rect">
            <a:avLst/>
          </a:prstGeom>
          <a:noFill/>
        </p:spPr>
        <p:txBody>
          <a:bodyPr wrap="square" anchor="t">
            <a:spAutoFit/>
          </a:bodyPr>
          <a:lstStyle/>
          <a:p>
            <a:pPr algn="ctr"/>
            <a:r>
              <a:rPr sz="1900" b="0"/>
              <a:t>Seasonal Agriculture Performance Analysis</a:t>
            </a:r>
          </a:p>
        </p:txBody>
      </p:sp>
      <p:sp>
        <p:nvSpPr>
          <p:cNvPr id="48" name="TextBox 47"/>
          <p:cNvSpPr txBox="1"/>
          <p:nvPr/>
        </p:nvSpPr>
        <p:spPr>
          <a:xfrm>
            <a:off x="1280160" y="3383280"/>
            <a:ext cx="9875520" cy="457200"/>
          </a:xfrm>
          <a:prstGeom prst="rect">
            <a:avLst/>
          </a:prstGeom>
          <a:noFill/>
        </p:spPr>
        <p:txBody>
          <a:bodyPr wrap="square" anchor="t">
            <a:spAutoFit/>
          </a:bodyPr>
          <a:lstStyle/>
          <a:p>
            <a:pPr algn="ctr"/>
            <a:r>
              <a:rPr sz="1700" b="0"/>
              <a:t>Surabhi Kushwaha  |  Gautam Buddha University</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97</cp:revision>
  <dcterms:created xsi:type="dcterms:W3CDTF">2021-07-11T13:13:15Z</dcterms:created>
  <dcterms:modified xsi:type="dcterms:W3CDTF">2026-09-02T10:35:59Z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